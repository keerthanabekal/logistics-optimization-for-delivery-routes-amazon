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76" r:id="rId4"/>
    <p:sldId id="267" r:id="rId5"/>
    <p:sldId id="257" r:id="rId6"/>
    <p:sldId id="268" r:id="rId7"/>
    <p:sldId id="259" r:id="rId8"/>
    <p:sldId id="260" r:id="rId9"/>
    <p:sldId id="269" r:id="rId10"/>
    <p:sldId id="262" r:id="rId11"/>
    <p:sldId id="266" r:id="rId12"/>
    <p:sldId id="270" r:id="rId13"/>
    <p:sldId id="263" r:id="rId14"/>
    <p:sldId id="271" r:id="rId15"/>
    <p:sldId id="264" r:id="rId16"/>
    <p:sldId id="272" r:id="rId17"/>
    <p:sldId id="265" r:id="rId18"/>
    <p:sldId id="273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36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6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9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8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65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58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9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46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70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42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245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42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952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88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69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643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00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1F2AC4-E70E-4694-A9F4-1CAE1FA7D054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0A6651-44E5-4363-8E1D-A13D077B8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01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4EBE5-DF33-4032-81D7-B642DBFA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i="0" u="none" strike="noStrike" baseline="0" dirty="0">
                <a:latin typeface="Arial" panose="020B0604020202020204" pitchFamily="34" charset="0"/>
              </a:rPr>
              <a:t>Project Objective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D3B2-5C1A-4C23-9C4C-632C5F73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1800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b="1" i="0" u="none" strike="noStrike" baseline="0" dirty="0">
                <a:latin typeface="Arial" panose="020B0604020202020204" pitchFamily="34" charset="0"/>
              </a:rPr>
              <a:t> </a:t>
            </a:r>
            <a:endParaRPr lang="en-IN" sz="1800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b="0" i="0" u="none" strike="noStrike" baseline="0" dirty="0">
                <a:latin typeface="Arial" panose="020B0604020202020204" pitchFamily="34" charset="0"/>
              </a:rPr>
              <a:t>Build a SQL-driven Logistics analytics system to </a:t>
            </a:r>
            <a:r>
              <a:rPr lang="en-GB" sz="1800" b="0" i="0" u="none" strike="noStrike" baseline="0" dirty="0" err="1">
                <a:latin typeface="Arial" panose="020B0604020202020204" pitchFamily="34" charset="0"/>
              </a:rPr>
              <a:t>analyze</a:t>
            </a:r>
            <a:r>
              <a:rPr lang="en-GB" sz="1800" b="0" i="0" u="none" strike="noStrike" baseline="0" dirty="0">
                <a:latin typeface="Arial" panose="020B0604020202020204" pitchFamily="34" charset="0"/>
              </a:rPr>
              <a:t> delays, optimize routes, and enhance shipment efficiency by leveraging queries, aggregations.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62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29ACB74-9CE0-4680-8E75-0761524A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TASK1</a:t>
            </a:r>
            <a:r>
              <a:rPr lang="en-GB" sz="1800" b="1" i="0" u="none" strike="noStrike" baseline="0" dirty="0">
                <a:latin typeface="Arial" panose="020B0604020202020204" pitchFamily="34" charset="0"/>
              </a:rPr>
              <a:t>: Data Cleaning &amp; Preparation </a:t>
            </a:r>
            <a:endParaRPr lang="en-IN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120000-B2C2-45CE-8ED3-1FE6F3BB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237" y="2450968"/>
            <a:ext cx="10515600" cy="3591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i="0" u="none" strike="noStrike" baseline="0" dirty="0">
                <a:latin typeface="Arial" panose="020B0604020202020204" pitchFamily="34" charset="0"/>
              </a:rPr>
              <a:t>Task 1.1 : </a:t>
            </a:r>
            <a:r>
              <a:rPr lang="en-GB" sz="1800" b="1" i="0" u="none" strike="noStrike" baseline="0" dirty="0"/>
              <a:t>Identify and delete duplicate </a:t>
            </a:r>
            <a:r>
              <a:rPr lang="en-GB" sz="1800" b="1" i="0" u="none" strike="noStrike" baseline="0" dirty="0" err="1"/>
              <a:t>Order_ID</a:t>
            </a:r>
            <a:r>
              <a:rPr lang="en-GB" sz="1800" b="1" i="0" u="none" strike="noStrike" baseline="0" dirty="0"/>
              <a:t> records. </a:t>
            </a:r>
          </a:p>
          <a:p>
            <a:r>
              <a:rPr lang="en-IN" sz="1600" b="1" dirty="0"/>
              <a:t>Syntax :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order_id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, count(*) as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duplicate_id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 from orders group by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order_id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 having count(*)&gt;1;</a:t>
            </a:r>
          </a:p>
          <a:p>
            <a:pPr marL="0" indent="0">
              <a:buNone/>
            </a:pPr>
            <a:r>
              <a:rPr lang="en-GB" sz="1800" b="1" i="0" u="none" strike="noStrike" baseline="0" dirty="0">
                <a:latin typeface="Arial" panose="020B0604020202020204" pitchFamily="34" charset="0"/>
              </a:rPr>
              <a:t>Task 1.2 : </a:t>
            </a:r>
            <a:r>
              <a:rPr lang="en-GB" sz="1800" b="1" i="0" u="none" strike="noStrike" baseline="0" dirty="0"/>
              <a:t>Replace null </a:t>
            </a:r>
            <a:r>
              <a:rPr lang="en-GB" sz="1800" b="1" i="0" u="none" strike="noStrike" baseline="0" dirty="0" err="1"/>
              <a:t>Traffic_Delay_Min</a:t>
            </a:r>
            <a:r>
              <a:rPr lang="en-GB" sz="1800" b="1" i="0" u="none" strike="noStrike" baseline="0" dirty="0"/>
              <a:t> with the average delay for that route</a:t>
            </a:r>
            <a:r>
              <a:rPr lang="en-GB" sz="1800" b="0" i="0" u="none" strike="noStrike" baseline="0" dirty="0"/>
              <a:t>. </a:t>
            </a:r>
          </a:p>
          <a:p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select * from routes where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traffic_delay_min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is null;</a:t>
            </a:r>
          </a:p>
          <a:p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update routes r join(select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Route_ID,avg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traffic_delay_min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) as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Average_delay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from routes                                                                                     where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traffic_delay_min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is not null group by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) t                                                                                                                                      on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r.Route_ID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t.Route_ID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set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r.traffic_delay_min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t.Average_delay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                                                                                                              where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r.traffic_delay_min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is null;</a:t>
            </a:r>
          </a:p>
        </p:txBody>
      </p:sp>
    </p:spTree>
    <p:extLst>
      <p:ext uri="{BB962C8B-B14F-4D97-AF65-F5344CB8AC3E}">
        <p14:creationId xmlns:p14="http://schemas.microsoft.com/office/powerpoint/2010/main" val="2646016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DAD804-F5D5-4F1C-AEBE-66F27B12DC5D}"/>
              </a:ext>
            </a:extLst>
          </p:cNvPr>
          <p:cNvSpPr txBox="1"/>
          <p:nvPr/>
        </p:nvSpPr>
        <p:spPr>
          <a:xfrm>
            <a:off x="1244338" y="1400031"/>
            <a:ext cx="977559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b="1" i="0" u="none" strike="noStrike" baseline="0" dirty="0">
                <a:latin typeface="Arial" panose="020B0604020202020204" pitchFamily="34" charset="0"/>
              </a:rPr>
              <a:t>Task 1.3 : </a:t>
            </a:r>
            <a:r>
              <a:rPr lang="en-GB" sz="2400" b="1" i="0" u="none" strike="noStrike" baseline="0" dirty="0"/>
              <a:t>Convert all date columns into YYYY-MM-DD format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alter table orders MODIFY column </a:t>
            </a:r>
            <a:r>
              <a:rPr lang="en-GB" sz="18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Order_Date</a:t>
            </a: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DATE,                  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   MODIFY column </a:t>
            </a:r>
            <a:r>
              <a:rPr lang="en-GB" sz="18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Expected_Delivery_Date</a:t>
            </a: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DATE,</a:t>
            </a:r>
          </a:p>
          <a:p>
            <a:pPr marL="0" indent="0">
              <a:buNone/>
            </a:pP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   MODIFY column </a:t>
            </a:r>
            <a:r>
              <a:rPr lang="en-GB" sz="18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Actual_Delivery_Date</a:t>
            </a: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DATE;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alter table </a:t>
            </a:r>
            <a:r>
              <a:rPr lang="en-GB" sz="18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shipmenttracking</a:t>
            </a: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MODIFY column </a:t>
            </a:r>
            <a:r>
              <a:rPr lang="en-GB" sz="18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Checkpoint_Time</a:t>
            </a:r>
            <a:r>
              <a:rPr lang="en-GB" sz="18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DATE;</a:t>
            </a:r>
          </a:p>
          <a:p>
            <a:endParaRPr lang="en-GB" sz="1800" b="0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2000" b="1" i="0" u="none" strike="noStrike" baseline="0" dirty="0">
                <a:latin typeface="Arial" panose="020B0604020202020204" pitchFamily="34" charset="0"/>
              </a:rPr>
              <a:t>Task 1.4 : </a:t>
            </a:r>
            <a:r>
              <a:rPr lang="en-GB" sz="2000" b="1" dirty="0"/>
              <a:t>Ensure that no </a:t>
            </a:r>
            <a:r>
              <a:rPr lang="en-GB" sz="2000" b="1" dirty="0" err="1"/>
              <a:t>Actual_Delivery_Date</a:t>
            </a:r>
            <a:r>
              <a:rPr lang="en-GB" sz="2000" b="1" dirty="0"/>
              <a:t> is before </a:t>
            </a:r>
            <a:r>
              <a:rPr lang="en-GB" sz="2000" b="1" dirty="0" err="1"/>
              <a:t>Order_Date</a:t>
            </a:r>
            <a:r>
              <a:rPr lang="en-GB" sz="2000" b="1" dirty="0"/>
              <a:t> (flag such records).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alter table orders add column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Deliver_flag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varchar(10);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update orders set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deliver_flag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= CASE when 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actual_delivery_date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&lt;</a:t>
            </a:r>
            <a:r>
              <a:rPr lang="en-IN" sz="2000" dirty="0" err="1">
                <a:solidFill>
                  <a:schemeClr val="accent1">
                    <a:lumMod val="75000"/>
                  </a:schemeClr>
                </a:solidFill>
              </a:rPr>
              <a:t>order_date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                  then 'Invalid’ else 'valid’  end;</a:t>
            </a:r>
          </a:p>
        </p:txBody>
      </p:sp>
    </p:spTree>
    <p:extLst>
      <p:ext uri="{BB962C8B-B14F-4D97-AF65-F5344CB8AC3E}">
        <p14:creationId xmlns:p14="http://schemas.microsoft.com/office/powerpoint/2010/main" val="123170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7E0E6-6AF0-4601-AB7B-36CE70968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35" y="765978"/>
            <a:ext cx="11242929" cy="546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5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7846-0E4D-4DD8-8BD9-542F1905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TASK 2 : </a:t>
            </a:r>
            <a:r>
              <a:rPr lang="en-IN" sz="1800" b="1" i="0" u="none" strike="noStrike" baseline="0" dirty="0">
                <a:latin typeface="Arial" panose="020B0604020202020204" pitchFamily="34" charset="0"/>
              </a:rPr>
              <a:t>Delivery Delay Analysis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BA2B8-AE26-4042-96BA-94524628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TASK 2.1 : </a:t>
            </a:r>
            <a:r>
              <a:rPr lang="en-GB" sz="1800" b="1" i="0" u="none" strike="noStrike" baseline="0" dirty="0"/>
              <a:t>Calculate delivery delay (in days) for each order 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alter table orders add column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int;update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orders set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datediff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actual_delivery_date,expected_delivery_date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6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TASK 2 .2 : </a:t>
            </a:r>
            <a:r>
              <a:rPr lang="en-GB" sz="1600" b="1" dirty="0"/>
              <a:t>Top 10 delayed routes based on average delay days.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avg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Avg_delivery_delay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from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ordersgroup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order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Avg_delivery_delay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desc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limit 10;</a:t>
            </a:r>
          </a:p>
          <a:p>
            <a:pPr marL="0" indent="0">
              <a:buNone/>
            </a:pPr>
            <a:r>
              <a:rPr lang="en-IN" sz="16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TASK 2 .3 : </a:t>
            </a:r>
            <a:r>
              <a:rPr lang="en-GB" sz="16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n-GB" sz="1600" b="1" dirty="0"/>
              <a:t>ank all orders by delay within each warehouse using windows function 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order_id,warehouse_id,delivery_delay,RANK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() OVER(partition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warehouse_id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order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delivery_delay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desc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)AS ranking from orders;</a:t>
            </a:r>
          </a:p>
          <a:p>
            <a:pPr marL="0" indent="0">
              <a:buNone/>
            </a:pPr>
            <a:endParaRPr lang="en-GB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414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AFF06-87CC-46CB-BB90-412D1EEB3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44" y="510622"/>
            <a:ext cx="8098391" cy="583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483F-A08F-4CF8-8CA5-9A209145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99"/>
            <a:ext cx="10515600" cy="1325563"/>
          </a:xfrm>
        </p:spPr>
        <p:txBody>
          <a:bodyPr/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800" b="1" i="0" u="none" strike="noStrike" baseline="0" dirty="0">
                <a:latin typeface="Arial" panose="020B0604020202020204" pitchFamily="34" charset="0"/>
              </a:rPr>
              <a:t>Task 3: Route Optimization Insights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20E4-CEB4-4A0E-9DC1-B7AB4D8AE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600" b="1" i="0" u="none" strike="noStrike" baseline="0" dirty="0">
                <a:latin typeface="Arial" panose="020B0604020202020204" pitchFamily="34" charset="0"/>
              </a:rPr>
              <a:t>Task 3 .1.1 : </a:t>
            </a:r>
            <a:r>
              <a:rPr lang="en-GB" sz="1600" b="1" dirty="0"/>
              <a:t>Calculate Average delivery time (in days).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, AVG(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Average_Travel_Time_Min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)/(60*24) as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Average_Travel_Time_days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from routes group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latin typeface="Arial" panose="020B0604020202020204" pitchFamily="34" charset="0"/>
              </a:rPr>
              <a:t>Task 3 .1.2 : </a:t>
            </a:r>
            <a:r>
              <a:rPr lang="en-GB" sz="1600" b="1" dirty="0"/>
              <a:t>Calculate Average traffic delay.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, AVG(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Traffic_Delay_Min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) AS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avg_traffic_delay_min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 from routes group by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latin typeface="Arial" panose="020B0604020202020204" pitchFamily="34" charset="0"/>
              </a:rPr>
              <a:t>Task 3 .1.3 : </a:t>
            </a:r>
            <a:r>
              <a:rPr lang="en-IN" sz="1600" b="1" dirty="0"/>
              <a:t>Distance-to-time efficiency ratio</a:t>
            </a:r>
          </a:p>
          <a:p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alter table routes add column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Distance_time_efficiency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 float;</a:t>
            </a:r>
          </a:p>
          <a:p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update routes set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Distance_time_efficiency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=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Distance_KM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Average_Travel_Time_Min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en-GB" sz="1800" b="0" i="0" u="none" strike="noStrike" baseline="0" dirty="0"/>
              <a:t> </a:t>
            </a:r>
          </a:p>
          <a:p>
            <a:pPr marL="0" indent="0">
              <a:buNone/>
            </a:pPr>
            <a:r>
              <a:rPr lang="en-GB" sz="1600" b="1" i="0" u="none" strike="noStrike" baseline="0" dirty="0">
                <a:latin typeface="Arial" panose="020B0604020202020204" pitchFamily="34" charset="0"/>
              </a:rPr>
              <a:t>Task 3 .2 : </a:t>
            </a:r>
            <a:r>
              <a:rPr lang="en-GB" sz="1600" b="1" i="0" u="none" strike="noStrike" baseline="0" dirty="0"/>
              <a:t>Identify 3 routes with the worst efficiency ratio. </a:t>
            </a:r>
          </a:p>
          <a:p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select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route_id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Distance_time_efficiency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from routes order by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Distance_time_efficiency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GB" sz="1600" b="0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asc</a:t>
            </a:r>
            <a:r>
              <a:rPr lang="en-GB" sz="1600" b="0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limit 3;</a:t>
            </a:r>
          </a:p>
          <a:p>
            <a:pPr marL="0" indent="0">
              <a:buNone/>
            </a:pP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18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1BAD-56E2-4EB7-B6BB-02364162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6F664-465F-465E-B45D-B855E6603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/>
              <a:t>Task 3.3 : Find routes with &gt;20% delayed shipments.</a:t>
            </a:r>
          </a:p>
          <a:p>
            <a:r>
              <a:rPr lang="en-GB" sz="1600" dirty="0">
                <a:solidFill>
                  <a:schemeClr val="accent1"/>
                </a:solidFill>
              </a:rPr>
              <a:t>select route_id,Average_Travel_Time_Min,Traffic_Delay_Min,Distance_time_efficiency, (</a:t>
            </a:r>
            <a:r>
              <a:rPr lang="en-GB" sz="1600" dirty="0" err="1">
                <a:solidFill>
                  <a:schemeClr val="accent1"/>
                </a:solidFill>
              </a:rPr>
              <a:t>traffic_delay_min</a:t>
            </a:r>
            <a:r>
              <a:rPr lang="en-GB" sz="1600" dirty="0">
                <a:solidFill>
                  <a:schemeClr val="accent1"/>
                </a:solidFill>
              </a:rPr>
              <a:t>/</a:t>
            </a:r>
            <a:r>
              <a:rPr lang="en-GB" sz="1600" dirty="0" err="1">
                <a:solidFill>
                  <a:schemeClr val="accent1"/>
                </a:solidFill>
              </a:rPr>
              <a:t>Average_Travel_time_min</a:t>
            </a:r>
            <a:r>
              <a:rPr lang="en-GB" sz="1600" dirty="0">
                <a:solidFill>
                  <a:schemeClr val="accent1"/>
                </a:solidFill>
              </a:rPr>
              <a:t>)*100 AS </a:t>
            </a:r>
            <a:r>
              <a:rPr lang="en-GB" sz="1600" dirty="0" err="1">
                <a:solidFill>
                  <a:schemeClr val="accent1"/>
                </a:solidFill>
              </a:rPr>
              <a:t>delay_percentage</a:t>
            </a:r>
            <a:r>
              <a:rPr lang="en-GB" sz="1600" dirty="0">
                <a:solidFill>
                  <a:schemeClr val="accent1"/>
                </a:solidFill>
              </a:rPr>
              <a:t> from routes where (</a:t>
            </a:r>
            <a:r>
              <a:rPr lang="en-GB" sz="1600" dirty="0" err="1">
                <a:solidFill>
                  <a:schemeClr val="accent1"/>
                </a:solidFill>
              </a:rPr>
              <a:t>Traffic_delay_min</a:t>
            </a:r>
            <a:r>
              <a:rPr lang="en-GB" sz="1600" dirty="0">
                <a:solidFill>
                  <a:schemeClr val="accent1"/>
                </a:solidFill>
              </a:rPr>
              <a:t>/</a:t>
            </a:r>
            <a:r>
              <a:rPr lang="en-GB" sz="1600" dirty="0" err="1">
                <a:solidFill>
                  <a:schemeClr val="accent1"/>
                </a:solidFill>
              </a:rPr>
              <a:t>Average_travel_time_min</a:t>
            </a:r>
            <a:r>
              <a:rPr lang="en-GB" sz="1600" dirty="0">
                <a:solidFill>
                  <a:schemeClr val="accent1"/>
                </a:solidFill>
              </a:rPr>
              <a:t>)*100 &gt; 20;</a:t>
            </a:r>
          </a:p>
          <a:p>
            <a:pPr marL="0" indent="0"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/>
                </a:solidFill>
              </a:rPr>
              <a:t>task 3.4 : Recommend potential routes for optimization.</a:t>
            </a:r>
          </a:p>
          <a:p>
            <a:r>
              <a:rPr lang="en-GB" sz="1600" dirty="0">
                <a:solidFill>
                  <a:schemeClr val="tx1"/>
                </a:solidFill>
              </a:rPr>
              <a:t>Increase the </a:t>
            </a:r>
            <a:r>
              <a:rPr lang="en-GB" sz="1600" dirty="0" err="1">
                <a:solidFill>
                  <a:schemeClr val="tx1"/>
                </a:solidFill>
              </a:rPr>
              <a:t>avg</a:t>
            </a:r>
            <a:r>
              <a:rPr lang="en-GB" sz="1600" dirty="0">
                <a:solidFill>
                  <a:schemeClr val="tx1"/>
                </a:solidFill>
              </a:rPr>
              <a:t> travel time.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Improve the transport </a:t>
            </a:r>
            <a:r>
              <a:rPr lang="en-GB" sz="1600" dirty="0" err="1">
                <a:solidFill>
                  <a:schemeClr val="tx1"/>
                </a:solidFill>
              </a:rPr>
              <a:t>fecility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4789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DBCAA-1779-4D8C-8E64-D80790020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93" y="1211379"/>
            <a:ext cx="10685014" cy="40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93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6193-7FE2-4857-B543-559EBFB9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IN" sz="1800" b="1" i="0" u="none" strike="noStrike" baseline="0" dirty="0">
                <a:latin typeface="Arial" panose="020B0604020202020204" pitchFamily="34" charset="0"/>
              </a:rPr>
              <a:t>Task 4: Warehouse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389A-767D-46BA-8D0E-3E074FDBD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1600" b="1" i="0" u="none" strike="noStrike" baseline="0" dirty="0">
                <a:latin typeface="Arial" panose="020B0604020202020204" pitchFamily="34" charset="0"/>
              </a:rPr>
              <a:t>Task 4.1 : </a:t>
            </a:r>
            <a:r>
              <a:rPr lang="en-GB" sz="1800" b="1" i="0" u="none" strike="noStrike" baseline="0" dirty="0"/>
              <a:t>Find the top 3 warehouses with the highest average processing time. 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select </a:t>
            </a:r>
            <a:r>
              <a:rPr lang="en-IN" sz="1600" dirty="0" err="1">
                <a:solidFill>
                  <a:schemeClr val="accent1"/>
                </a:solidFill>
              </a:rPr>
              <a:t>o.warehouse_id</a:t>
            </a:r>
            <a:r>
              <a:rPr lang="en-IN" sz="1600" dirty="0">
                <a:solidFill>
                  <a:schemeClr val="accent1"/>
                </a:solidFill>
              </a:rPr>
              <a:t>, </a:t>
            </a:r>
            <a:r>
              <a:rPr lang="en-IN" sz="1600" dirty="0" err="1">
                <a:solidFill>
                  <a:schemeClr val="accent1"/>
                </a:solidFill>
              </a:rPr>
              <a:t>avg</a:t>
            </a:r>
            <a:r>
              <a:rPr lang="en-IN" sz="1600" dirty="0">
                <a:solidFill>
                  <a:schemeClr val="accent1"/>
                </a:solidFill>
              </a:rPr>
              <a:t>(</a:t>
            </a:r>
            <a:r>
              <a:rPr lang="en-IN" sz="1600" dirty="0" err="1">
                <a:solidFill>
                  <a:schemeClr val="accent1"/>
                </a:solidFill>
              </a:rPr>
              <a:t>w.processing_time_min</a:t>
            </a:r>
            <a:r>
              <a:rPr lang="en-IN" sz="1600" dirty="0">
                <a:solidFill>
                  <a:schemeClr val="accent1"/>
                </a:solidFill>
              </a:rPr>
              <a:t>) As </a:t>
            </a:r>
            <a:r>
              <a:rPr lang="en-IN" sz="1600" dirty="0" err="1">
                <a:solidFill>
                  <a:schemeClr val="accent1"/>
                </a:solidFill>
              </a:rPr>
              <a:t>avg_processing_time</a:t>
            </a:r>
            <a:r>
              <a:rPr lang="en-IN" sz="1600" dirty="0">
                <a:solidFill>
                  <a:schemeClr val="accent1"/>
                </a:solidFill>
              </a:rPr>
              <a:t>                                                                                  from orders </a:t>
            </a:r>
            <a:r>
              <a:rPr lang="en-IN" sz="1600" dirty="0" err="1">
                <a:solidFill>
                  <a:schemeClr val="accent1"/>
                </a:solidFill>
              </a:rPr>
              <a:t>oleft</a:t>
            </a:r>
            <a:r>
              <a:rPr lang="en-IN" sz="1600" dirty="0">
                <a:solidFill>
                  <a:schemeClr val="accent1"/>
                </a:solidFill>
              </a:rPr>
              <a:t> join warehouses w on </a:t>
            </a:r>
            <a:r>
              <a:rPr lang="en-IN" sz="1600" dirty="0" err="1">
                <a:solidFill>
                  <a:schemeClr val="accent1"/>
                </a:solidFill>
              </a:rPr>
              <a:t>w.warehouse_id</a:t>
            </a:r>
            <a:r>
              <a:rPr lang="en-IN" sz="1600" dirty="0">
                <a:solidFill>
                  <a:schemeClr val="accent1"/>
                </a:solidFill>
              </a:rPr>
              <a:t>=</a:t>
            </a:r>
            <a:r>
              <a:rPr lang="en-IN" sz="1600" dirty="0" err="1">
                <a:solidFill>
                  <a:schemeClr val="accent1"/>
                </a:solidFill>
              </a:rPr>
              <a:t>o.warehouse_id</a:t>
            </a:r>
            <a:r>
              <a:rPr lang="en-IN" sz="1600" dirty="0">
                <a:solidFill>
                  <a:schemeClr val="accent1"/>
                </a:solidFill>
              </a:rPr>
              <a:t>                                                                                   group by </a:t>
            </a:r>
            <a:r>
              <a:rPr lang="en-IN" sz="1600" dirty="0" err="1">
                <a:solidFill>
                  <a:schemeClr val="accent1"/>
                </a:solidFill>
              </a:rPr>
              <a:t>o.warehouse_id</a:t>
            </a:r>
            <a:r>
              <a:rPr lang="en-IN" sz="1600" dirty="0">
                <a:solidFill>
                  <a:schemeClr val="accent1"/>
                </a:solidFill>
              </a:rPr>
              <a:t> order by </a:t>
            </a:r>
            <a:r>
              <a:rPr lang="en-IN" sz="1600" dirty="0" err="1">
                <a:solidFill>
                  <a:schemeClr val="accent1"/>
                </a:solidFill>
              </a:rPr>
              <a:t>avg_processing_time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desc</a:t>
            </a:r>
            <a:r>
              <a:rPr lang="en-IN" sz="1600" dirty="0">
                <a:solidFill>
                  <a:schemeClr val="accent1"/>
                </a:solidFill>
              </a:rPr>
              <a:t> limit 3;</a:t>
            </a:r>
          </a:p>
          <a:p>
            <a:pPr marL="0" indent="0">
              <a:buNone/>
            </a:pPr>
            <a:endParaRPr lang="en-IN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600" b="1" dirty="0"/>
              <a:t>Task 4.2  : Calculate total vs. delayed shipments for each warehouse.</a:t>
            </a:r>
          </a:p>
          <a:p>
            <a:r>
              <a:rPr lang="en-GB" sz="1600" dirty="0">
                <a:solidFill>
                  <a:schemeClr val="accent1"/>
                </a:solidFill>
              </a:rPr>
              <a:t>select </a:t>
            </a:r>
            <a:r>
              <a:rPr lang="en-GB" sz="1600" dirty="0" err="1">
                <a:solidFill>
                  <a:schemeClr val="accent1"/>
                </a:solidFill>
              </a:rPr>
              <a:t>o.warehouse_id</a:t>
            </a:r>
            <a:r>
              <a:rPr lang="en-GB" sz="1600" dirty="0">
                <a:solidFill>
                  <a:schemeClr val="accent1"/>
                </a:solidFill>
              </a:rPr>
              <a:t>, count(</a:t>
            </a:r>
            <a:r>
              <a:rPr lang="en-GB" sz="1600" dirty="0" err="1">
                <a:solidFill>
                  <a:schemeClr val="accent1"/>
                </a:solidFill>
              </a:rPr>
              <a:t>o.order_id</a:t>
            </a:r>
            <a:r>
              <a:rPr lang="en-GB" sz="1600" dirty="0">
                <a:solidFill>
                  <a:schemeClr val="accent1"/>
                </a:solidFill>
              </a:rPr>
              <a:t>) as </a:t>
            </a:r>
            <a:r>
              <a:rPr lang="en-GB" sz="1600" dirty="0" err="1">
                <a:solidFill>
                  <a:schemeClr val="accent1"/>
                </a:solidFill>
              </a:rPr>
              <a:t>total_shipment</a:t>
            </a:r>
            <a:r>
              <a:rPr lang="en-GB" sz="1600" dirty="0">
                <a:solidFill>
                  <a:schemeClr val="accent1"/>
                </a:solidFill>
              </a:rPr>
              <a:t>, sum(case when </a:t>
            </a:r>
            <a:r>
              <a:rPr lang="en-GB" sz="1600" dirty="0" err="1">
                <a:solidFill>
                  <a:schemeClr val="accent1"/>
                </a:solidFill>
              </a:rPr>
              <a:t>o.delivery_status</a:t>
            </a:r>
            <a:r>
              <a:rPr lang="en-GB" sz="1600" dirty="0">
                <a:solidFill>
                  <a:schemeClr val="accent1"/>
                </a:solidFill>
              </a:rPr>
              <a:t>='delayed' then 1 else 0 end) as </a:t>
            </a:r>
            <a:r>
              <a:rPr lang="en-GB" sz="1600" dirty="0" err="1">
                <a:solidFill>
                  <a:schemeClr val="accent1"/>
                </a:solidFill>
              </a:rPr>
              <a:t>delayed_shipment</a:t>
            </a:r>
            <a:r>
              <a:rPr lang="en-GB" sz="1600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                                                from orders o left join warehouses w on </a:t>
            </a:r>
            <a:r>
              <a:rPr lang="en-GB" sz="1600" dirty="0" err="1">
                <a:solidFill>
                  <a:schemeClr val="accent1"/>
                </a:solidFill>
              </a:rPr>
              <a:t>w.warehouse_id</a:t>
            </a:r>
            <a:r>
              <a:rPr lang="en-GB" sz="1600" dirty="0">
                <a:solidFill>
                  <a:schemeClr val="accent1"/>
                </a:solidFill>
              </a:rPr>
              <a:t>=</a:t>
            </a:r>
            <a:r>
              <a:rPr lang="en-GB" sz="1600" dirty="0" err="1">
                <a:solidFill>
                  <a:schemeClr val="accent1"/>
                </a:solidFill>
              </a:rPr>
              <a:t>o.warehouse_id</a:t>
            </a:r>
            <a:r>
              <a:rPr lang="en-GB" sz="1600" dirty="0">
                <a:solidFill>
                  <a:schemeClr val="accent1"/>
                </a:solidFill>
              </a:rPr>
              <a:t> group by </a:t>
            </a:r>
            <a:r>
              <a:rPr lang="en-GB" sz="1600" dirty="0" err="1">
                <a:solidFill>
                  <a:schemeClr val="accent1"/>
                </a:solidFill>
              </a:rPr>
              <a:t>o.warehouse_id</a:t>
            </a:r>
            <a:r>
              <a:rPr lang="en-GB" sz="160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GB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9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4FC3-4D3F-470C-B8CA-2ACFB7BF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7A9D3-BA8F-49AC-A197-85DF8FEC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800" b="1" dirty="0"/>
              <a:t>Task 4.3 : bottleneck warehouses where processing time &gt; global average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with </a:t>
            </a:r>
            <a:r>
              <a:rPr lang="en-GB" sz="1800" dirty="0" err="1">
                <a:solidFill>
                  <a:schemeClr val="accent1"/>
                </a:solidFill>
              </a:rPr>
              <a:t>Avg_processing</a:t>
            </a:r>
            <a:r>
              <a:rPr lang="en-GB" sz="1800" dirty="0">
                <a:solidFill>
                  <a:schemeClr val="accent1"/>
                </a:solidFill>
              </a:rPr>
              <a:t> as (select </a:t>
            </a:r>
            <a:r>
              <a:rPr lang="en-GB" sz="1800" dirty="0" err="1">
                <a:solidFill>
                  <a:schemeClr val="accent1"/>
                </a:solidFill>
              </a:rPr>
              <a:t>avg</a:t>
            </a:r>
            <a:r>
              <a:rPr lang="en-GB" sz="1800" dirty="0">
                <a:solidFill>
                  <a:schemeClr val="accent1"/>
                </a:solidFill>
              </a:rPr>
              <a:t> (</a:t>
            </a:r>
            <a:r>
              <a:rPr lang="en-GB" sz="1800" dirty="0" err="1">
                <a:solidFill>
                  <a:schemeClr val="accent1"/>
                </a:solidFill>
              </a:rPr>
              <a:t>processing_time_min</a:t>
            </a:r>
            <a:r>
              <a:rPr lang="en-GB" sz="1800" dirty="0">
                <a:solidFill>
                  <a:schemeClr val="accent1"/>
                </a:solidFill>
              </a:rPr>
              <a:t>) as </a:t>
            </a:r>
            <a:r>
              <a:rPr lang="en-GB" sz="1800" dirty="0" err="1">
                <a:solidFill>
                  <a:schemeClr val="accent1"/>
                </a:solidFill>
              </a:rPr>
              <a:t>Global_avg</a:t>
            </a:r>
            <a:r>
              <a:rPr lang="en-GB" sz="1800" dirty="0">
                <a:solidFill>
                  <a:schemeClr val="accent1"/>
                </a:solidFill>
              </a:rPr>
              <a:t> from warehouses)                                               select </a:t>
            </a:r>
            <a:r>
              <a:rPr lang="en-GB" sz="1800" dirty="0" err="1">
                <a:solidFill>
                  <a:schemeClr val="accent1"/>
                </a:solidFill>
              </a:rPr>
              <a:t>w.warehouse_id</a:t>
            </a:r>
            <a:r>
              <a:rPr lang="en-GB" sz="1800" dirty="0">
                <a:solidFill>
                  <a:schemeClr val="accent1"/>
                </a:solidFill>
              </a:rPr>
              <a:t>, </a:t>
            </a:r>
            <a:r>
              <a:rPr lang="en-GB" sz="1800" dirty="0" err="1">
                <a:solidFill>
                  <a:schemeClr val="accent1"/>
                </a:solidFill>
              </a:rPr>
              <a:t>w.processing_time_min</a:t>
            </a:r>
            <a:r>
              <a:rPr lang="en-GB" sz="1800" dirty="0">
                <a:solidFill>
                  <a:schemeClr val="accent1"/>
                </a:solidFill>
              </a:rPr>
              <a:t> from warehouses w, </a:t>
            </a:r>
            <a:r>
              <a:rPr lang="en-GB" sz="1800" dirty="0" err="1">
                <a:solidFill>
                  <a:schemeClr val="accent1"/>
                </a:solidFill>
              </a:rPr>
              <a:t>Avg_processing</a:t>
            </a:r>
            <a:r>
              <a:rPr lang="en-GB" sz="1800" dirty="0">
                <a:solidFill>
                  <a:schemeClr val="accent1"/>
                </a:solidFill>
              </a:rPr>
              <a:t> a                                                       where </a:t>
            </a:r>
            <a:r>
              <a:rPr lang="en-GB" sz="1800" dirty="0" err="1">
                <a:solidFill>
                  <a:schemeClr val="accent1"/>
                </a:solidFill>
              </a:rPr>
              <a:t>w.processing_time_min</a:t>
            </a:r>
            <a:r>
              <a:rPr lang="en-GB" sz="1800" dirty="0">
                <a:solidFill>
                  <a:schemeClr val="accent1"/>
                </a:solidFill>
              </a:rPr>
              <a:t> &gt; </a:t>
            </a:r>
            <a:r>
              <a:rPr lang="en-GB" sz="1800" dirty="0" err="1">
                <a:solidFill>
                  <a:schemeClr val="accent1"/>
                </a:solidFill>
              </a:rPr>
              <a:t>a.Global_avg</a:t>
            </a:r>
            <a:r>
              <a:rPr lang="en-IN" sz="180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Task 4.4 : Rank warehouses based on on-time delivery percentage</a:t>
            </a:r>
          </a:p>
          <a:p>
            <a:r>
              <a:rPr lang="en-IN" sz="1800" dirty="0">
                <a:solidFill>
                  <a:schemeClr val="accent1"/>
                </a:solidFill>
              </a:rPr>
              <a:t>select </a:t>
            </a:r>
            <a:r>
              <a:rPr lang="en-IN" sz="1800" dirty="0" err="1">
                <a:solidFill>
                  <a:schemeClr val="accent1"/>
                </a:solidFill>
              </a:rPr>
              <a:t>w.warehouse_id</a:t>
            </a:r>
            <a:r>
              <a:rPr lang="en-IN" sz="1800" dirty="0">
                <a:solidFill>
                  <a:schemeClr val="accent1"/>
                </a:solidFill>
              </a:rPr>
              <a:t>, (sum(case when </a:t>
            </a:r>
            <a:r>
              <a:rPr lang="en-IN" sz="1800" dirty="0" err="1">
                <a:solidFill>
                  <a:schemeClr val="accent1"/>
                </a:solidFill>
              </a:rPr>
              <a:t>o.delivery_status</a:t>
            </a:r>
            <a:r>
              <a:rPr lang="en-IN" sz="1800" dirty="0">
                <a:solidFill>
                  <a:schemeClr val="accent1"/>
                </a:solidFill>
              </a:rPr>
              <a:t>='on </a:t>
            </a:r>
            <a:r>
              <a:rPr lang="en-IN" sz="1800" dirty="0" err="1">
                <a:solidFill>
                  <a:schemeClr val="accent1"/>
                </a:solidFill>
              </a:rPr>
              <a:t>time'then</a:t>
            </a:r>
            <a:r>
              <a:rPr lang="en-IN" sz="1800" dirty="0">
                <a:solidFill>
                  <a:schemeClr val="accent1"/>
                </a:solidFill>
              </a:rPr>
              <a:t> 1 else 0 end)/count(</a:t>
            </a:r>
            <a:r>
              <a:rPr lang="en-IN" sz="1800" dirty="0" err="1">
                <a:solidFill>
                  <a:schemeClr val="accent1"/>
                </a:solidFill>
              </a:rPr>
              <a:t>o.order_id</a:t>
            </a:r>
            <a:r>
              <a:rPr lang="en-IN" sz="1800" dirty="0">
                <a:solidFill>
                  <a:schemeClr val="accent1"/>
                </a:solidFill>
              </a:rPr>
              <a:t>))*100 AS </a:t>
            </a:r>
            <a:r>
              <a:rPr lang="en-IN" sz="1800" dirty="0" err="1">
                <a:solidFill>
                  <a:schemeClr val="accent1"/>
                </a:solidFill>
              </a:rPr>
              <a:t>on_time_percentage</a:t>
            </a:r>
            <a:r>
              <a:rPr lang="en-IN" sz="1800" dirty="0">
                <a:solidFill>
                  <a:schemeClr val="accent1"/>
                </a:solidFill>
              </a:rPr>
              <a:t>,                                                                                                                                                                      RANK()OVER(order by (sum(case when </a:t>
            </a:r>
            <a:r>
              <a:rPr lang="en-IN" sz="1800" dirty="0" err="1">
                <a:solidFill>
                  <a:schemeClr val="accent1"/>
                </a:solidFill>
              </a:rPr>
              <a:t>o.delivery_status</a:t>
            </a:r>
            <a:r>
              <a:rPr lang="en-IN" sz="1800" dirty="0">
                <a:solidFill>
                  <a:schemeClr val="accent1"/>
                </a:solidFill>
              </a:rPr>
              <a:t>='on </a:t>
            </a:r>
            <a:r>
              <a:rPr lang="en-IN" sz="1800" dirty="0" err="1">
                <a:solidFill>
                  <a:schemeClr val="accent1"/>
                </a:solidFill>
              </a:rPr>
              <a:t>time'then</a:t>
            </a:r>
            <a:r>
              <a:rPr lang="en-IN" sz="1800" dirty="0">
                <a:solidFill>
                  <a:schemeClr val="accent1"/>
                </a:solidFill>
              </a:rPr>
              <a:t> 1 else 0 end)/count(</a:t>
            </a:r>
            <a:r>
              <a:rPr lang="en-IN" sz="1800" dirty="0" err="1">
                <a:solidFill>
                  <a:schemeClr val="accent1"/>
                </a:solidFill>
              </a:rPr>
              <a:t>o.order_id</a:t>
            </a:r>
            <a:r>
              <a:rPr lang="en-IN" sz="1800" dirty="0">
                <a:solidFill>
                  <a:schemeClr val="accent1"/>
                </a:solidFill>
              </a:rPr>
              <a:t>)) </a:t>
            </a:r>
            <a:r>
              <a:rPr lang="en-IN" sz="1800" dirty="0" err="1">
                <a:solidFill>
                  <a:schemeClr val="accent1"/>
                </a:solidFill>
              </a:rPr>
              <a:t>desc</a:t>
            </a:r>
            <a:r>
              <a:rPr lang="en-IN" sz="1800" dirty="0">
                <a:solidFill>
                  <a:schemeClr val="accent1"/>
                </a:solidFill>
              </a:rPr>
              <a:t> ) AS </a:t>
            </a:r>
            <a:r>
              <a:rPr lang="en-IN" sz="1800" dirty="0" err="1">
                <a:solidFill>
                  <a:schemeClr val="accent1"/>
                </a:solidFill>
              </a:rPr>
              <a:t>Rank_positionfrom</a:t>
            </a:r>
            <a:r>
              <a:rPr lang="en-IN" sz="1800" dirty="0">
                <a:solidFill>
                  <a:schemeClr val="accent1"/>
                </a:solidFill>
              </a:rPr>
              <a:t> warehouses w join orders o on </a:t>
            </a:r>
            <a:r>
              <a:rPr lang="en-IN" sz="1800" dirty="0" err="1">
                <a:solidFill>
                  <a:schemeClr val="accent1"/>
                </a:solidFill>
              </a:rPr>
              <a:t>w.warehouse_id</a:t>
            </a:r>
            <a:r>
              <a:rPr lang="en-IN" sz="1800" dirty="0">
                <a:solidFill>
                  <a:schemeClr val="accent1"/>
                </a:solidFill>
              </a:rPr>
              <a:t>=</a:t>
            </a:r>
            <a:r>
              <a:rPr lang="en-IN" sz="1800" dirty="0" err="1">
                <a:solidFill>
                  <a:schemeClr val="accent1"/>
                </a:solidFill>
              </a:rPr>
              <a:t>o.warehouse_id</a:t>
            </a:r>
            <a:r>
              <a:rPr lang="en-IN" sz="1800" dirty="0">
                <a:solidFill>
                  <a:schemeClr val="accent1"/>
                </a:solidFill>
              </a:rPr>
              <a:t> group by </a:t>
            </a:r>
            <a:r>
              <a:rPr lang="en-IN" sz="1800" dirty="0" err="1">
                <a:solidFill>
                  <a:schemeClr val="accent1"/>
                </a:solidFill>
              </a:rPr>
              <a:t>w.warehouse_id</a:t>
            </a:r>
            <a:r>
              <a:rPr lang="en-IN" sz="1800" dirty="0">
                <a:solidFill>
                  <a:schemeClr val="accent1"/>
                </a:solidFill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58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02CFD0-36C2-4823-857B-64E079192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09" y="1068266"/>
            <a:ext cx="11516981" cy="47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82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BED0-AF48-447A-B448-9A894257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800" b="1" i="0" u="none" strike="noStrike" baseline="0" dirty="0">
                <a:latin typeface="Arial" panose="020B0604020202020204" pitchFamily="34" charset="0"/>
              </a:rPr>
              <a:t>Task 5: Delivery Agent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84166-A0EC-4132-97E2-EA042139B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b="1" dirty="0"/>
              <a:t>Task 5.1 :  Rank agents (per route) by on-time delivery percentage</a:t>
            </a:r>
          </a:p>
          <a:p>
            <a:r>
              <a:rPr lang="en-GB" sz="1600" dirty="0">
                <a:solidFill>
                  <a:schemeClr val="accent1"/>
                </a:solidFill>
              </a:rPr>
              <a:t>select </a:t>
            </a:r>
            <a:r>
              <a:rPr lang="en-GB" sz="1600" dirty="0" err="1">
                <a:solidFill>
                  <a:schemeClr val="accent1"/>
                </a:solidFill>
              </a:rPr>
              <a:t>agent_id,route_id</a:t>
            </a:r>
            <a:r>
              <a:rPr lang="en-GB" sz="1600" dirty="0">
                <a:solidFill>
                  <a:schemeClr val="accent1"/>
                </a:solidFill>
              </a:rPr>
              <a:t>, </a:t>
            </a:r>
            <a:r>
              <a:rPr lang="en-GB" sz="1600" dirty="0" err="1">
                <a:solidFill>
                  <a:schemeClr val="accent1"/>
                </a:solidFill>
              </a:rPr>
              <a:t>on_time_percentage</a:t>
            </a:r>
            <a:r>
              <a:rPr lang="en-GB" sz="1600" dirty="0">
                <a:solidFill>
                  <a:schemeClr val="accent1"/>
                </a:solidFill>
              </a:rPr>
              <a:t>, </a:t>
            </a:r>
            <a:r>
              <a:rPr lang="en-GB" sz="1600" dirty="0" err="1">
                <a:solidFill>
                  <a:schemeClr val="accent1"/>
                </a:solidFill>
              </a:rPr>
              <a:t>dense_rank</a:t>
            </a:r>
            <a:r>
              <a:rPr lang="en-GB" sz="1600" dirty="0">
                <a:solidFill>
                  <a:schemeClr val="accent1"/>
                </a:solidFill>
              </a:rPr>
              <a:t>() over( partition by </a:t>
            </a:r>
            <a:r>
              <a:rPr lang="en-GB" sz="1600" dirty="0" err="1">
                <a:solidFill>
                  <a:schemeClr val="accent1"/>
                </a:solidFill>
              </a:rPr>
              <a:t>route_id</a:t>
            </a:r>
            <a:r>
              <a:rPr lang="en-GB" sz="1600" dirty="0">
                <a:solidFill>
                  <a:schemeClr val="accent1"/>
                </a:solidFill>
              </a:rPr>
              <a:t> order by </a:t>
            </a:r>
            <a:r>
              <a:rPr lang="en-GB" sz="1600" dirty="0" err="1">
                <a:solidFill>
                  <a:schemeClr val="accent1"/>
                </a:solidFill>
              </a:rPr>
              <a:t>on_time_percentage</a:t>
            </a:r>
            <a:r>
              <a:rPr lang="en-GB" sz="1600" dirty="0">
                <a:solidFill>
                  <a:schemeClr val="accent1"/>
                </a:solidFill>
              </a:rPr>
              <a:t> </a:t>
            </a:r>
            <a:r>
              <a:rPr lang="en-GB" sz="1600" dirty="0" err="1">
                <a:solidFill>
                  <a:schemeClr val="accent1"/>
                </a:solidFill>
              </a:rPr>
              <a:t>desc</a:t>
            </a:r>
            <a:r>
              <a:rPr lang="en-GB" sz="1600" dirty="0">
                <a:solidFill>
                  <a:schemeClr val="accent1"/>
                </a:solidFill>
              </a:rPr>
              <a:t>) as </a:t>
            </a:r>
            <a:r>
              <a:rPr lang="en-GB" sz="1600" dirty="0" err="1">
                <a:solidFill>
                  <a:schemeClr val="accent1"/>
                </a:solidFill>
              </a:rPr>
              <a:t>rank_per_route</a:t>
            </a:r>
            <a:r>
              <a:rPr lang="en-GB" sz="1600" dirty="0">
                <a:solidFill>
                  <a:schemeClr val="accent1"/>
                </a:solidFill>
              </a:rPr>
              <a:t> from </a:t>
            </a:r>
            <a:r>
              <a:rPr lang="en-GB" sz="1600" dirty="0" err="1">
                <a:solidFill>
                  <a:schemeClr val="accent1"/>
                </a:solidFill>
              </a:rPr>
              <a:t>deliveryagents</a:t>
            </a:r>
            <a:r>
              <a:rPr lang="en-GB" sz="160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GB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600" b="1" dirty="0"/>
              <a:t>Task 5.2 : Find agents with on-time % &lt; 80%.</a:t>
            </a:r>
          </a:p>
          <a:p>
            <a:r>
              <a:rPr lang="en-GB" sz="1600" dirty="0">
                <a:solidFill>
                  <a:schemeClr val="accent1"/>
                </a:solidFill>
              </a:rPr>
              <a:t>select * from </a:t>
            </a:r>
            <a:r>
              <a:rPr lang="en-GB" sz="1600" dirty="0" err="1">
                <a:solidFill>
                  <a:schemeClr val="accent1"/>
                </a:solidFill>
              </a:rPr>
              <a:t>deliveryagents</a:t>
            </a:r>
            <a:r>
              <a:rPr lang="en-GB" sz="1600" dirty="0">
                <a:solidFill>
                  <a:schemeClr val="accent1"/>
                </a:solidFill>
              </a:rPr>
              <a:t> where </a:t>
            </a:r>
            <a:r>
              <a:rPr lang="en-GB" sz="1600" dirty="0" err="1">
                <a:solidFill>
                  <a:schemeClr val="accent1"/>
                </a:solidFill>
              </a:rPr>
              <a:t>on_time_percentage</a:t>
            </a:r>
            <a:r>
              <a:rPr lang="en-GB" sz="1600" dirty="0">
                <a:solidFill>
                  <a:schemeClr val="accent1"/>
                </a:solidFill>
              </a:rPr>
              <a:t> &lt; 80;</a:t>
            </a:r>
          </a:p>
          <a:p>
            <a:endParaRPr lang="en-GB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600" b="1" dirty="0"/>
              <a:t>Task 5.3 : Compare average speed of top 5 vs bottom 5 agents using subqueries.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select (select </a:t>
            </a:r>
            <a:r>
              <a:rPr lang="en-IN" sz="1600" dirty="0" err="1">
                <a:solidFill>
                  <a:schemeClr val="accent1"/>
                </a:solidFill>
              </a:rPr>
              <a:t>avg</a:t>
            </a:r>
            <a:r>
              <a:rPr lang="en-IN" sz="1600" dirty="0">
                <a:solidFill>
                  <a:schemeClr val="accent1"/>
                </a:solidFill>
              </a:rPr>
              <a:t>(</a:t>
            </a:r>
            <a:r>
              <a:rPr lang="en-IN" sz="1600" dirty="0" err="1">
                <a:solidFill>
                  <a:schemeClr val="accent1"/>
                </a:solidFill>
              </a:rPr>
              <a:t>Avg_Speed_KM_HR</a:t>
            </a:r>
            <a:r>
              <a:rPr lang="en-IN" sz="1600" dirty="0">
                <a:solidFill>
                  <a:schemeClr val="accent1"/>
                </a:solidFill>
              </a:rPr>
              <a:t>) from </a:t>
            </a:r>
            <a:r>
              <a:rPr lang="en-IN" sz="1600" dirty="0" err="1">
                <a:solidFill>
                  <a:schemeClr val="accent1"/>
                </a:solidFill>
              </a:rPr>
              <a:t>deliveryagents</a:t>
            </a:r>
            <a:r>
              <a:rPr lang="en-IN" sz="1600" dirty="0">
                <a:solidFill>
                  <a:schemeClr val="accent1"/>
                </a:solidFill>
              </a:rPr>
              <a:t> order by </a:t>
            </a:r>
            <a:r>
              <a:rPr lang="en-IN" sz="1600" dirty="0" err="1">
                <a:solidFill>
                  <a:schemeClr val="accent1"/>
                </a:solidFill>
              </a:rPr>
              <a:t>on_time_percentage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desc</a:t>
            </a:r>
            <a:r>
              <a:rPr lang="en-IN" sz="1600" dirty="0">
                <a:solidFill>
                  <a:schemeClr val="accent1"/>
                </a:solidFill>
              </a:rPr>
              <a:t> limit 5 ) as top_5avg_speed,(select </a:t>
            </a:r>
            <a:r>
              <a:rPr lang="en-IN" sz="1600" dirty="0" err="1">
                <a:solidFill>
                  <a:schemeClr val="accent1"/>
                </a:solidFill>
              </a:rPr>
              <a:t>avg</a:t>
            </a:r>
            <a:r>
              <a:rPr lang="en-IN" sz="1600" dirty="0">
                <a:solidFill>
                  <a:schemeClr val="accent1"/>
                </a:solidFill>
              </a:rPr>
              <a:t>(</a:t>
            </a:r>
            <a:r>
              <a:rPr lang="en-IN" sz="1600" dirty="0" err="1">
                <a:solidFill>
                  <a:schemeClr val="accent1"/>
                </a:solidFill>
              </a:rPr>
              <a:t>Avg_Speed_KM_HR</a:t>
            </a:r>
            <a:r>
              <a:rPr lang="en-IN" sz="1600" dirty="0">
                <a:solidFill>
                  <a:schemeClr val="accent1"/>
                </a:solidFill>
              </a:rPr>
              <a:t>)                                                                                                                                 from </a:t>
            </a:r>
            <a:r>
              <a:rPr lang="en-IN" sz="1600" dirty="0" err="1">
                <a:solidFill>
                  <a:schemeClr val="accent1"/>
                </a:solidFill>
              </a:rPr>
              <a:t>deliveryagents</a:t>
            </a:r>
            <a:r>
              <a:rPr lang="en-IN" sz="1600" dirty="0">
                <a:solidFill>
                  <a:schemeClr val="accent1"/>
                </a:solidFill>
              </a:rPr>
              <a:t> order by </a:t>
            </a:r>
            <a:r>
              <a:rPr lang="en-IN" sz="1600" dirty="0" err="1">
                <a:solidFill>
                  <a:schemeClr val="accent1"/>
                </a:solidFill>
              </a:rPr>
              <a:t>on_time_percentage</a:t>
            </a:r>
            <a:r>
              <a:rPr lang="en-IN" sz="1600" dirty="0">
                <a:solidFill>
                  <a:schemeClr val="accent1"/>
                </a:solidFill>
              </a:rPr>
              <a:t> </a:t>
            </a:r>
            <a:r>
              <a:rPr lang="en-IN" sz="1600" dirty="0" err="1">
                <a:solidFill>
                  <a:schemeClr val="accent1"/>
                </a:solidFill>
              </a:rPr>
              <a:t>asc</a:t>
            </a:r>
            <a:r>
              <a:rPr lang="en-IN" sz="1600" dirty="0">
                <a:solidFill>
                  <a:schemeClr val="accent1"/>
                </a:solidFill>
              </a:rPr>
              <a:t> limit 5) as bottom_5avg_speed;</a:t>
            </a:r>
          </a:p>
        </p:txBody>
      </p:sp>
    </p:spTree>
    <p:extLst>
      <p:ext uri="{BB962C8B-B14F-4D97-AF65-F5344CB8AC3E}">
        <p14:creationId xmlns:p14="http://schemas.microsoft.com/office/powerpoint/2010/main" val="1743058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BEBFC8-2D24-43D5-BBD6-74FA825A1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75" y="980387"/>
            <a:ext cx="11480292" cy="441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03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4143-629B-46F4-A7E5-56496900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800" b="1" i="0" u="none" strike="noStrike" baseline="0" dirty="0">
                <a:latin typeface="Arial" panose="020B0604020202020204" pitchFamily="34" charset="0"/>
              </a:rPr>
              <a:t>Task 6: Shipment Tracking Analytics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148D-3F8C-4406-A284-B288DC88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000000"/>
                </a:solidFill>
              </a:rPr>
              <a:t>Task 6.1 : </a:t>
            </a:r>
            <a:r>
              <a:rPr lang="en-GB" sz="1800" b="1" i="0" u="none" strike="noStrike" baseline="0" dirty="0"/>
              <a:t> For each order, list the last checkpoint and time </a:t>
            </a:r>
          </a:p>
          <a:p>
            <a:r>
              <a:rPr lang="en-GB" sz="1800" i="0" u="none" strike="noStrike" baseline="0" dirty="0">
                <a:solidFill>
                  <a:schemeClr val="accent1"/>
                </a:solidFill>
              </a:rPr>
              <a:t>select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o.order_id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,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s.checkpoint,s.checkpoint_time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from orders o                                                                                                      left join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shipmenttracking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s on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o.order_id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=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s.order_id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order by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o.order_id,checkpoint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asc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GB" sz="1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800" b="1" dirty="0"/>
              <a:t>T</a:t>
            </a:r>
            <a:r>
              <a:rPr lang="en-GB" sz="1800" b="1" i="0" u="none" strike="noStrike" baseline="0" dirty="0"/>
              <a:t>ask 6.2 : Find the most common delay reasons (excluding None).</a:t>
            </a:r>
          </a:p>
          <a:p>
            <a:r>
              <a:rPr lang="en-GB" sz="1800" i="0" u="none" strike="noStrike" baseline="0" dirty="0">
                <a:solidFill>
                  <a:schemeClr val="accent1"/>
                </a:solidFill>
              </a:rPr>
              <a:t>select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delay_reason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, count(*) as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reason_count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from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shipmenttracking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                                                                                         where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delay_reason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is not null and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delay_reason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&lt;&gt; 'none’                                                                                                         group by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delay_reason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order by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reason_count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 </a:t>
            </a:r>
            <a:r>
              <a:rPr lang="en-GB" sz="1800" i="0" u="none" strike="noStrike" baseline="0" dirty="0" err="1">
                <a:solidFill>
                  <a:schemeClr val="accent1"/>
                </a:solidFill>
              </a:rPr>
              <a:t>desc</a:t>
            </a:r>
            <a:r>
              <a:rPr lang="en-GB" sz="1800" i="0" u="none" strike="noStrike" baseline="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GB" sz="1800" i="0" u="none" strike="noStrike" baseline="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800" b="1" dirty="0"/>
              <a:t>task 6.3: Identify orders with &gt;2 delayed checkpoints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select </a:t>
            </a:r>
            <a:r>
              <a:rPr lang="en-GB" sz="1800" dirty="0" err="1">
                <a:solidFill>
                  <a:schemeClr val="accent1"/>
                </a:solidFill>
              </a:rPr>
              <a:t>order_id</a:t>
            </a:r>
            <a:r>
              <a:rPr lang="en-GB" sz="1800" dirty="0">
                <a:solidFill>
                  <a:schemeClr val="accent1"/>
                </a:solidFill>
              </a:rPr>
              <a:t>, count(*) as </a:t>
            </a:r>
            <a:r>
              <a:rPr lang="en-GB" sz="1800" dirty="0" err="1">
                <a:solidFill>
                  <a:schemeClr val="accent1"/>
                </a:solidFill>
              </a:rPr>
              <a:t>delayed_checkpoint</a:t>
            </a:r>
            <a:r>
              <a:rPr lang="en-GB" sz="1800" dirty="0">
                <a:solidFill>
                  <a:schemeClr val="accent1"/>
                </a:solidFill>
              </a:rPr>
              <a:t> from </a:t>
            </a:r>
            <a:r>
              <a:rPr lang="en-GB" sz="1800" dirty="0" err="1">
                <a:solidFill>
                  <a:schemeClr val="accent1"/>
                </a:solidFill>
              </a:rPr>
              <a:t>shipmenttracking</a:t>
            </a:r>
            <a:r>
              <a:rPr lang="en-GB" sz="1800" dirty="0">
                <a:solidFill>
                  <a:schemeClr val="accent1"/>
                </a:solidFill>
              </a:rPr>
              <a:t>                                                                                        where </a:t>
            </a:r>
            <a:r>
              <a:rPr lang="en-GB" sz="1800" dirty="0" err="1">
                <a:solidFill>
                  <a:schemeClr val="accent1"/>
                </a:solidFill>
              </a:rPr>
              <a:t>delay_reason</a:t>
            </a:r>
            <a:r>
              <a:rPr lang="en-GB" sz="1800" dirty="0">
                <a:solidFill>
                  <a:schemeClr val="accent1"/>
                </a:solidFill>
              </a:rPr>
              <a:t> is not null and </a:t>
            </a:r>
            <a:r>
              <a:rPr lang="en-GB" sz="1800" dirty="0" err="1">
                <a:solidFill>
                  <a:schemeClr val="accent1"/>
                </a:solidFill>
              </a:rPr>
              <a:t>delay_reason</a:t>
            </a:r>
            <a:r>
              <a:rPr lang="en-GB" sz="1800" dirty="0">
                <a:solidFill>
                  <a:schemeClr val="accent1"/>
                </a:solidFill>
              </a:rPr>
              <a:t> &lt;&gt; 'none’                                                                                                          group by </a:t>
            </a:r>
            <a:r>
              <a:rPr lang="en-GB" sz="1800" dirty="0" err="1">
                <a:solidFill>
                  <a:schemeClr val="accent1"/>
                </a:solidFill>
              </a:rPr>
              <a:t>order_id</a:t>
            </a:r>
            <a:r>
              <a:rPr lang="en-GB" sz="1800" dirty="0">
                <a:solidFill>
                  <a:schemeClr val="accent1"/>
                </a:solidFill>
              </a:rPr>
              <a:t> having count(*)&gt;2;</a:t>
            </a:r>
            <a:endParaRPr lang="en-IN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73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1A273-EEFC-402E-8596-BDDB091E3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44" y="373098"/>
            <a:ext cx="10463754" cy="611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58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B5E9-432C-4B65-8C5D-C3D3D3C3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800" b="1" i="0" u="none" strike="noStrike" baseline="0" dirty="0">
                <a:latin typeface="Arial" panose="020B0604020202020204" pitchFamily="34" charset="0"/>
              </a:rPr>
              <a:t>Task 7: Advanced KPI Reporting 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C287F-CFEB-452F-9891-DCE07B76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1800" b="1" dirty="0"/>
              <a:t>Task 7.1 : Average Delivery Delay per Region (</a:t>
            </a:r>
            <a:r>
              <a:rPr lang="en-GB" sz="1800" b="1" dirty="0" err="1"/>
              <a:t>Start_Location</a:t>
            </a:r>
            <a:r>
              <a:rPr lang="en-GB" sz="1800" b="1" dirty="0"/>
              <a:t>).</a:t>
            </a:r>
          </a:p>
          <a:p>
            <a:r>
              <a:rPr lang="en-IN" sz="1800" dirty="0">
                <a:solidFill>
                  <a:schemeClr val="accent1"/>
                </a:solidFill>
              </a:rPr>
              <a:t>select </a:t>
            </a:r>
            <a:r>
              <a:rPr lang="en-IN" sz="1800" dirty="0" err="1">
                <a:solidFill>
                  <a:schemeClr val="accent1"/>
                </a:solidFill>
              </a:rPr>
              <a:t>r.start_Location</a:t>
            </a:r>
            <a:r>
              <a:rPr lang="en-IN" sz="1800" dirty="0">
                <a:solidFill>
                  <a:schemeClr val="accent1"/>
                </a:solidFill>
              </a:rPr>
              <a:t> AS Region, </a:t>
            </a:r>
            <a:r>
              <a:rPr lang="en-IN" sz="1800" dirty="0" err="1">
                <a:solidFill>
                  <a:schemeClr val="accent1"/>
                </a:solidFill>
              </a:rPr>
              <a:t>avg</a:t>
            </a:r>
            <a:r>
              <a:rPr lang="en-IN" sz="1800" dirty="0">
                <a:solidFill>
                  <a:schemeClr val="accent1"/>
                </a:solidFill>
              </a:rPr>
              <a:t>(</a:t>
            </a:r>
            <a:r>
              <a:rPr lang="en-IN" sz="1800" dirty="0" err="1">
                <a:solidFill>
                  <a:schemeClr val="accent1"/>
                </a:solidFill>
              </a:rPr>
              <a:t>o.delivery_delay</a:t>
            </a:r>
            <a:r>
              <a:rPr lang="en-IN" sz="1800" dirty="0">
                <a:solidFill>
                  <a:schemeClr val="accent1"/>
                </a:solidFill>
              </a:rPr>
              <a:t>) AS </a:t>
            </a:r>
            <a:r>
              <a:rPr lang="en-IN" sz="1800" dirty="0" err="1">
                <a:solidFill>
                  <a:schemeClr val="accent1"/>
                </a:solidFill>
              </a:rPr>
              <a:t>Avg_delivery_delay</a:t>
            </a:r>
            <a:r>
              <a:rPr lang="en-IN" sz="1800" dirty="0">
                <a:solidFill>
                  <a:schemeClr val="accent1"/>
                </a:solidFill>
              </a:rPr>
              <a:t> from orders o                                            join routes r on </a:t>
            </a:r>
            <a:r>
              <a:rPr lang="en-IN" sz="1800" dirty="0" err="1">
                <a:solidFill>
                  <a:schemeClr val="accent1"/>
                </a:solidFill>
              </a:rPr>
              <a:t>o.route_id</a:t>
            </a:r>
            <a:r>
              <a:rPr lang="en-IN" sz="1800" dirty="0">
                <a:solidFill>
                  <a:schemeClr val="accent1"/>
                </a:solidFill>
              </a:rPr>
              <a:t>=</a:t>
            </a:r>
            <a:r>
              <a:rPr lang="en-IN" sz="1800" dirty="0" err="1">
                <a:solidFill>
                  <a:schemeClr val="accent1"/>
                </a:solidFill>
              </a:rPr>
              <a:t>r.route_id</a:t>
            </a:r>
            <a:r>
              <a:rPr lang="en-IN" sz="1800" dirty="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    group by </a:t>
            </a:r>
            <a:r>
              <a:rPr lang="en-IN" sz="1800" dirty="0" err="1">
                <a:solidFill>
                  <a:schemeClr val="accent1"/>
                </a:solidFill>
              </a:rPr>
              <a:t>r.start_location</a:t>
            </a:r>
            <a:r>
              <a:rPr lang="en-IN" sz="1800" dirty="0">
                <a:solidFill>
                  <a:schemeClr val="accent1"/>
                </a:solidFill>
              </a:rPr>
              <a:t> order by </a:t>
            </a:r>
            <a:r>
              <a:rPr lang="en-IN" sz="1800" dirty="0" err="1">
                <a:solidFill>
                  <a:schemeClr val="accent1"/>
                </a:solidFill>
              </a:rPr>
              <a:t>Avg_delivery_delay</a:t>
            </a:r>
            <a:r>
              <a:rPr lang="en-IN" sz="1800" dirty="0">
                <a:solidFill>
                  <a:schemeClr val="accent1"/>
                </a:solidFill>
              </a:rPr>
              <a:t> </a:t>
            </a:r>
            <a:r>
              <a:rPr lang="en-IN" sz="1800" dirty="0" err="1">
                <a:solidFill>
                  <a:schemeClr val="accent1"/>
                </a:solidFill>
              </a:rPr>
              <a:t>desc</a:t>
            </a:r>
            <a:r>
              <a:rPr lang="en-IN" sz="1800" dirty="0">
                <a:solidFill>
                  <a:schemeClr val="accent1"/>
                </a:solidFill>
              </a:rPr>
              <a:t>;</a:t>
            </a:r>
          </a:p>
          <a:p>
            <a:pPr marL="0" indent="0">
              <a:buNone/>
            </a:pPr>
            <a:endParaRPr lang="en-IN" sz="18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GB" sz="1800" b="1" dirty="0"/>
              <a:t>Task 7.2 : calculate On-Time Delivery % = (Total On-Time Deliveries / Total Deliveries) * 100.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select (sum(case when </a:t>
            </a:r>
            <a:r>
              <a:rPr lang="en-GB" sz="1800" dirty="0" err="1">
                <a:solidFill>
                  <a:schemeClr val="accent1"/>
                </a:solidFill>
              </a:rPr>
              <a:t>delivery_status</a:t>
            </a:r>
            <a:r>
              <a:rPr lang="en-GB" sz="1800" dirty="0">
                <a:solidFill>
                  <a:schemeClr val="accent1"/>
                </a:solidFill>
              </a:rPr>
              <a:t> = 'On </a:t>
            </a:r>
            <a:r>
              <a:rPr lang="en-GB" sz="1800" dirty="0" err="1">
                <a:solidFill>
                  <a:schemeClr val="accent1"/>
                </a:solidFill>
              </a:rPr>
              <a:t>Time'then</a:t>
            </a:r>
            <a:r>
              <a:rPr lang="en-GB" sz="1800" dirty="0">
                <a:solidFill>
                  <a:schemeClr val="accent1"/>
                </a:solidFill>
              </a:rPr>
              <a:t> 1 else 0 end)*100/count(*))                                                                       AS </a:t>
            </a:r>
            <a:r>
              <a:rPr lang="en-GB" sz="1800" dirty="0" err="1">
                <a:solidFill>
                  <a:schemeClr val="accent1"/>
                </a:solidFill>
              </a:rPr>
              <a:t>Ontime_delivery_percentage</a:t>
            </a:r>
            <a:r>
              <a:rPr lang="en-GB" sz="1800" dirty="0">
                <a:solidFill>
                  <a:schemeClr val="accent1"/>
                </a:solidFill>
              </a:rPr>
              <a:t> from orders;</a:t>
            </a:r>
          </a:p>
          <a:p>
            <a:pPr marL="0" indent="0">
              <a:buNone/>
            </a:pPr>
            <a:r>
              <a:rPr lang="en-GB" sz="1800" b="1" dirty="0"/>
              <a:t>Task : 7.3 Average Traffic Delay per Route</a:t>
            </a:r>
          </a:p>
          <a:p>
            <a:r>
              <a:rPr lang="en-IN" sz="1800" dirty="0">
                <a:solidFill>
                  <a:schemeClr val="accent1"/>
                </a:solidFill>
              </a:rPr>
              <a:t>select </a:t>
            </a:r>
            <a:r>
              <a:rPr lang="en-IN" sz="1800" dirty="0" err="1">
                <a:solidFill>
                  <a:schemeClr val="accent1"/>
                </a:solidFill>
              </a:rPr>
              <a:t>r.route_id</a:t>
            </a:r>
            <a:r>
              <a:rPr lang="en-IN" sz="1800" dirty="0">
                <a:solidFill>
                  <a:schemeClr val="accent1"/>
                </a:solidFill>
              </a:rPr>
              <a:t>, </a:t>
            </a:r>
            <a:r>
              <a:rPr lang="en-IN" sz="1800" dirty="0" err="1">
                <a:solidFill>
                  <a:schemeClr val="accent1"/>
                </a:solidFill>
              </a:rPr>
              <a:t>avg</a:t>
            </a:r>
            <a:r>
              <a:rPr lang="en-IN" sz="1800" dirty="0">
                <a:solidFill>
                  <a:schemeClr val="accent1"/>
                </a:solidFill>
              </a:rPr>
              <a:t>(</a:t>
            </a:r>
            <a:r>
              <a:rPr lang="en-IN" sz="1800" dirty="0" err="1">
                <a:solidFill>
                  <a:schemeClr val="accent1"/>
                </a:solidFill>
              </a:rPr>
              <a:t>r.traffic_delay_min</a:t>
            </a:r>
            <a:r>
              <a:rPr lang="en-IN" sz="1800" dirty="0">
                <a:solidFill>
                  <a:schemeClr val="accent1"/>
                </a:solidFill>
              </a:rPr>
              <a:t>) AS </a:t>
            </a:r>
            <a:r>
              <a:rPr lang="en-IN" sz="1800" dirty="0" err="1">
                <a:solidFill>
                  <a:schemeClr val="accent1"/>
                </a:solidFill>
              </a:rPr>
              <a:t>Avg_traffic_delay_min</a:t>
            </a:r>
            <a:r>
              <a:rPr lang="en-IN" sz="1800" dirty="0">
                <a:solidFill>
                  <a:schemeClr val="accent1"/>
                </a:solidFill>
              </a:rPr>
              <a:t> from orders o                                                                    join routes r on </a:t>
            </a:r>
            <a:r>
              <a:rPr lang="en-IN" sz="1800" dirty="0" err="1">
                <a:solidFill>
                  <a:schemeClr val="accent1"/>
                </a:solidFill>
              </a:rPr>
              <a:t>o.route_id</a:t>
            </a:r>
            <a:r>
              <a:rPr lang="en-IN" sz="1800" dirty="0">
                <a:solidFill>
                  <a:schemeClr val="accent1"/>
                </a:solidFill>
              </a:rPr>
              <a:t>=</a:t>
            </a:r>
            <a:r>
              <a:rPr lang="en-IN" sz="1800" dirty="0" err="1">
                <a:solidFill>
                  <a:schemeClr val="accent1"/>
                </a:solidFill>
              </a:rPr>
              <a:t>r.route_id</a:t>
            </a:r>
            <a:r>
              <a:rPr lang="en-IN" sz="1800">
                <a:solidFill>
                  <a:schemeClr val="accent1"/>
                </a:solidFill>
              </a:rPr>
              <a:t>                                                                                                                              group </a:t>
            </a:r>
            <a:r>
              <a:rPr lang="en-IN" sz="1800" dirty="0">
                <a:solidFill>
                  <a:schemeClr val="accent1"/>
                </a:solidFill>
              </a:rPr>
              <a:t>by </a:t>
            </a:r>
            <a:r>
              <a:rPr lang="en-IN" sz="1800" dirty="0" err="1">
                <a:solidFill>
                  <a:schemeClr val="accent1"/>
                </a:solidFill>
              </a:rPr>
              <a:t>r.route_id</a:t>
            </a:r>
            <a:r>
              <a:rPr lang="en-IN" sz="1800" dirty="0">
                <a:solidFill>
                  <a:schemeClr val="accent1"/>
                </a:solidFill>
              </a:rPr>
              <a:t> order by </a:t>
            </a:r>
            <a:r>
              <a:rPr lang="en-IN" sz="1800" dirty="0" err="1">
                <a:solidFill>
                  <a:schemeClr val="accent1"/>
                </a:solidFill>
              </a:rPr>
              <a:t>Avg_traffic_delay_min</a:t>
            </a:r>
            <a:r>
              <a:rPr lang="en-IN" sz="1800" dirty="0">
                <a:solidFill>
                  <a:schemeClr val="accent1"/>
                </a:solidFill>
              </a:rPr>
              <a:t> </a:t>
            </a:r>
            <a:r>
              <a:rPr lang="en-IN" sz="1800" dirty="0" err="1">
                <a:solidFill>
                  <a:schemeClr val="accent1"/>
                </a:solidFill>
              </a:rPr>
              <a:t>desc</a:t>
            </a:r>
            <a:r>
              <a:rPr lang="en-IN" sz="1800" dirty="0">
                <a:solidFill>
                  <a:schemeClr val="accent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3061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56341-BBAB-4459-9FDA-AB3384E34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17" y="497002"/>
            <a:ext cx="9640334" cy="586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6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373B-6EB3-45D2-8F6B-23A885DD87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BE55-AD9D-4609-A23A-302447CCD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Video link: :</a:t>
            </a:r>
            <a:r>
              <a:rPr lang="en-GB" sz="1600" dirty="0"/>
              <a:t>https://www.loom.com/share/6258bdaf54614c5da64099ba23e1fd51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805908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290</TotalTime>
  <Words>1595</Words>
  <Application>Microsoft Office PowerPoint</Application>
  <PresentationFormat>Widescreen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Garamond</vt:lpstr>
      <vt:lpstr>Organic</vt:lpstr>
      <vt:lpstr>Project Objective</vt:lpstr>
      <vt:lpstr> TASK1: Data Cleaning &amp; Preparation </vt:lpstr>
      <vt:lpstr>PowerPoint Presentation</vt:lpstr>
      <vt:lpstr>PowerPoint Presentation</vt:lpstr>
      <vt:lpstr> TASK 2 : Delivery Delay Analysis </vt:lpstr>
      <vt:lpstr>PowerPoint Presentation</vt:lpstr>
      <vt:lpstr> Task 3: Route Optimization Insights </vt:lpstr>
      <vt:lpstr>PowerPoint Presentation</vt:lpstr>
      <vt:lpstr>PowerPoint Presentation</vt:lpstr>
      <vt:lpstr> Task 4: Warehouse Performance</vt:lpstr>
      <vt:lpstr>PowerPoint Presentation</vt:lpstr>
      <vt:lpstr>PowerPoint Presentation</vt:lpstr>
      <vt:lpstr> Task 5: Delivery Agent Performance</vt:lpstr>
      <vt:lpstr>PowerPoint Presentation</vt:lpstr>
      <vt:lpstr> Task 6: Shipment Tracking Analytics </vt:lpstr>
      <vt:lpstr>PowerPoint Presentation</vt:lpstr>
      <vt:lpstr> Task 7: Advanced KPI Reporting 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17</cp:revision>
  <dcterms:created xsi:type="dcterms:W3CDTF">2025-10-04T18:17:13Z</dcterms:created>
  <dcterms:modified xsi:type="dcterms:W3CDTF">2025-10-16T17:52:11Z</dcterms:modified>
</cp:coreProperties>
</file>